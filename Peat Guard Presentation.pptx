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y Grotesk V3 Grand Semi-Bold" charset="1" panose="00000000000000000000"/>
      <p:regular r:id="rId16"/>
    </p:embeddedFont>
    <p:embeddedFont>
      <p:font typeface="Helvetica World" charset="1" panose="020B0500040000020004"/>
      <p:regular r:id="rId17"/>
    </p:embeddedFont>
    <p:embeddedFont>
      <p:font typeface="Helvetica World Bold" charset="1" panose="020B080004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555" r="0" b="0"/>
            </a:stretch>
          </a:blipFill>
        </p:spPr>
      </p:sp>
      <p:sp>
        <p:nvSpPr>
          <p:cNvPr name="AutoShape 3" id="3"/>
          <p:cNvSpPr/>
          <p:nvPr/>
        </p:nvSpPr>
        <p:spPr>
          <a:xfrm flipV="true">
            <a:off x="7068137" y="8795201"/>
            <a:ext cx="10191163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4545133" y="6977854"/>
            <a:ext cx="8167942" cy="645538"/>
            <a:chOff x="0" y="0"/>
            <a:chExt cx="2151227" cy="1700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1227" cy="170018"/>
            </a:xfrm>
            <a:custGeom>
              <a:avLst/>
              <a:gdLst/>
              <a:ahLst/>
              <a:cxnLst/>
              <a:rect r="r" b="b" t="t" l="l"/>
              <a:pathLst>
                <a:path h="170018" w="2151227">
                  <a:moveTo>
                    <a:pt x="0" y="0"/>
                  </a:moveTo>
                  <a:lnTo>
                    <a:pt x="2151227" y="0"/>
                  </a:lnTo>
                  <a:lnTo>
                    <a:pt x="2151227" y="170018"/>
                  </a:lnTo>
                  <a:lnTo>
                    <a:pt x="0" y="170018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151227" cy="198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2210198" y="7141547"/>
            <a:ext cx="287684" cy="287684"/>
          </a:xfrm>
          <a:custGeom>
            <a:avLst/>
            <a:gdLst/>
            <a:ahLst/>
            <a:cxnLst/>
            <a:rect r="r" b="b" t="t" l="l"/>
            <a:pathLst>
              <a:path h="287684" w="287684">
                <a:moveTo>
                  <a:pt x="0" y="0"/>
                </a:moveTo>
                <a:lnTo>
                  <a:pt x="287684" y="0"/>
                </a:lnTo>
                <a:lnTo>
                  <a:pt x="287684" y="287683"/>
                </a:lnTo>
                <a:lnTo>
                  <a:pt x="0" y="287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52535" y="1097625"/>
            <a:ext cx="14506765" cy="4943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411"/>
              </a:lnSpc>
            </a:pPr>
            <a:r>
              <a:rPr lang="en-US" b="true" sz="20483" spc="-409">
                <a:solidFill>
                  <a:srgbClr val="FFFFFF"/>
                </a:solidFill>
                <a:latin typeface="Cy Grotesk V3 Grand Semi-Bold"/>
                <a:ea typeface="Cy Grotesk V3 Grand Semi-Bold"/>
                <a:cs typeface="Cy Grotesk V3 Grand Semi-Bold"/>
                <a:sym typeface="Cy Grotesk V3 Grand Semi-Bold"/>
              </a:rPr>
              <a:t>PEAT</a:t>
            </a:r>
          </a:p>
          <a:p>
            <a:pPr algn="r">
              <a:lnSpc>
                <a:spcPts val="17411"/>
              </a:lnSpc>
            </a:pPr>
            <a:r>
              <a:rPr lang="en-US" b="true" sz="20483" spc="-409">
                <a:solidFill>
                  <a:srgbClr val="FFFFFF"/>
                </a:solidFill>
                <a:latin typeface="Cy Grotesk V3 Grand Semi-Bold"/>
                <a:ea typeface="Cy Grotesk V3 Grand Semi-Bold"/>
                <a:cs typeface="Cy Grotesk V3 Grand Semi-Bold"/>
                <a:sym typeface="Cy Grotesk V3 Grand Semi-Bold"/>
              </a:rPr>
              <a:t>GUARD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209945" y="9017651"/>
            <a:ext cx="604935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1499" spc="-2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TEAM W</a:t>
            </a:r>
            <a:r>
              <a:rPr lang="en-US" sz="1499" spc="-2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IZARDS | DORMATHON 2026 | TRACK 1: PREDICTIVE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45133" y="7088221"/>
            <a:ext cx="7808907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4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PREDICTING P</a:t>
            </a:r>
            <a:r>
              <a:rPr lang="en-US" sz="2100" spc="-4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EAT FIRES BEFORE THE HAZE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93284" y="5387178"/>
            <a:ext cx="6049355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99"/>
              </a:lnSpc>
            </a:pPr>
            <a:r>
              <a:rPr lang="en-US" sz="1499" spc="-29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BUILT BY: YARA MATOUK &amp; SANDRINE MADELEINE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87970" y="4677374"/>
            <a:ext cx="9371330" cy="4580926"/>
            <a:chOff x="0" y="0"/>
            <a:chExt cx="1451864" cy="70970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51864" cy="709705"/>
            </a:xfrm>
            <a:custGeom>
              <a:avLst/>
              <a:gdLst/>
              <a:ahLst/>
              <a:cxnLst/>
              <a:rect r="r" b="b" t="t" l="l"/>
              <a:pathLst>
                <a:path h="709705" w="1451864">
                  <a:moveTo>
                    <a:pt x="0" y="0"/>
                  </a:moveTo>
                  <a:lnTo>
                    <a:pt x="1451864" y="0"/>
                  </a:lnTo>
                  <a:lnTo>
                    <a:pt x="1451864" y="709705"/>
                  </a:lnTo>
                  <a:lnTo>
                    <a:pt x="0" y="709705"/>
                  </a:lnTo>
                  <a:close/>
                </a:path>
              </a:pathLst>
            </a:custGeom>
            <a:blipFill>
              <a:blip r:embed="rId2"/>
              <a:stretch>
                <a:fillRect l="0" t="-17736" r="0" b="-17736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1077308"/>
            <a:ext cx="14932960" cy="159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5"/>
              </a:lnSpc>
            </a:pPr>
            <a:r>
              <a:rPr lang="en-US" b="true" sz="11923" spc="-238">
                <a:solidFill>
                  <a:srgbClr val="FFFFFF"/>
                </a:solidFill>
                <a:latin typeface="Cy Grotesk V3 Grand Semi-Bold"/>
                <a:ea typeface="Cy Grotesk V3 Grand Semi-Bold"/>
                <a:cs typeface="Cy Grotesk V3 Grand Semi-Bold"/>
                <a:sym typeface="Cy Grotesk V3 Grand Semi-Bold"/>
              </a:rPr>
              <a:t>THE PROBLEM</a:t>
            </a:r>
          </a:p>
        </p:txBody>
      </p:sp>
      <p:sp>
        <p:nvSpPr>
          <p:cNvPr name="AutoShape 5" id="5"/>
          <p:cNvSpPr/>
          <p:nvPr/>
        </p:nvSpPr>
        <p:spPr>
          <a:xfrm>
            <a:off x="1028700" y="2665630"/>
            <a:ext cx="162306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748927" y="5887780"/>
            <a:ext cx="5303994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748927" y="6947595"/>
            <a:ext cx="5303994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700625" y="8062308"/>
            <a:ext cx="5303994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146403" y="4836456"/>
            <a:ext cx="4763" cy="3495527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1210598" y="4354605"/>
            <a:ext cx="6048702" cy="645538"/>
            <a:chOff x="0" y="0"/>
            <a:chExt cx="1593074" cy="17001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93074" cy="170018"/>
            </a:xfrm>
            <a:custGeom>
              <a:avLst/>
              <a:gdLst/>
              <a:ahLst/>
              <a:cxnLst/>
              <a:rect r="r" b="b" t="t" l="l"/>
              <a:pathLst>
                <a:path h="170018" w="1593074">
                  <a:moveTo>
                    <a:pt x="0" y="0"/>
                  </a:moveTo>
                  <a:lnTo>
                    <a:pt x="1593074" y="0"/>
                  </a:lnTo>
                  <a:lnTo>
                    <a:pt x="1593074" y="170018"/>
                  </a:lnTo>
                  <a:lnTo>
                    <a:pt x="0" y="170018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593074" cy="198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717520" y="4533532"/>
            <a:ext cx="287684" cy="287684"/>
          </a:xfrm>
          <a:custGeom>
            <a:avLst/>
            <a:gdLst/>
            <a:ahLst/>
            <a:cxnLst/>
            <a:rect r="r" b="b" t="t" l="l"/>
            <a:pathLst>
              <a:path h="287684" w="287684">
                <a:moveTo>
                  <a:pt x="0" y="0"/>
                </a:moveTo>
                <a:lnTo>
                  <a:pt x="287684" y="0"/>
                </a:lnTo>
                <a:lnTo>
                  <a:pt x="287684" y="287683"/>
                </a:lnTo>
                <a:lnTo>
                  <a:pt x="0" y="287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7137891" y="1028700"/>
            <a:ext cx="121409" cy="12140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flipH="true">
            <a:off x="6903432" y="4354605"/>
            <a:ext cx="0" cy="5517792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H="true">
            <a:off x="7177926" y="2951401"/>
            <a:ext cx="0" cy="5517792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942903" y="4020800"/>
            <a:ext cx="3963354" cy="559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b="true" sz="1999" spc="-3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THE THREAT</a:t>
            </a:r>
            <a:r>
              <a:rPr lang="en-US" b="true" sz="1999" spc="-39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BURNS BENEATH OUR FEET: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84459" y="4971567"/>
            <a:ext cx="4534435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spc="-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</a:t>
            </a:r>
            <a:r>
              <a:rPr lang="en-US" sz="1399" spc="-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 FIRES BURN UNDERGROUND, SPREAD UNSEEN, AND ARE EXTREMELY HARD TO PUT OUT ONCE THEY START.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4459" y="6035417"/>
            <a:ext cx="4534435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spc="-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2015 HAZE CRISIS BURNED ABOUT 2.6 MILLION HECT</a:t>
            </a:r>
            <a:r>
              <a:rPr lang="en-US" sz="1399" spc="-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ARES AND COST INDONESIA AN ESTIMATED US$16 BILLION (WORLD BANK).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84459" y="7122681"/>
            <a:ext cx="4390502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 spc="-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</a:t>
            </a:r>
            <a:r>
              <a:rPr lang="en-US" sz="1399" spc="-2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AZE CLOSES SCHOOLS, GROUNDS FLIGHTS, AND SENDS RESPIRATORY CASES UP ACROSS MALAYSIA, INDONESIA, AND SINGAPORE.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40676" y="4480198"/>
            <a:ext cx="5162150" cy="356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4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SPOT THE DANG</a:t>
            </a:r>
            <a:r>
              <a:rPr lang="en-US" sz="2100" spc="-4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 BEFORE IT SPARKS.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85841" y="5232429"/>
            <a:ext cx="121409" cy="121409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88223" y="6356983"/>
            <a:ext cx="121409" cy="121409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85841" y="7383542"/>
            <a:ext cx="121409" cy="121409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130087"/>
            <a:ext cx="6717126" cy="5128213"/>
            <a:chOff x="0" y="0"/>
            <a:chExt cx="1040659" cy="7944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0659" cy="794494"/>
            </a:xfrm>
            <a:custGeom>
              <a:avLst/>
              <a:gdLst/>
              <a:ahLst/>
              <a:cxnLst/>
              <a:rect r="r" b="b" t="t" l="l"/>
              <a:pathLst>
                <a:path h="794494" w="1040659">
                  <a:moveTo>
                    <a:pt x="0" y="0"/>
                  </a:moveTo>
                  <a:lnTo>
                    <a:pt x="1040659" y="0"/>
                  </a:lnTo>
                  <a:lnTo>
                    <a:pt x="1040659" y="794494"/>
                  </a:lnTo>
                  <a:lnTo>
                    <a:pt x="0" y="794494"/>
                  </a:lnTo>
                  <a:close/>
                </a:path>
              </a:pathLst>
            </a:custGeom>
            <a:blipFill>
              <a:blip r:embed="rId2"/>
              <a:stretch>
                <a:fillRect l="-18165" t="0" r="-18165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980849" y="1028700"/>
            <a:ext cx="5278451" cy="5665493"/>
            <a:chOff x="0" y="0"/>
            <a:chExt cx="817770" cy="8777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7770" cy="877733"/>
            </a:xfrm>
            <a:custGeom>
              <a:avLst/>
              <a:gdLst/>
              <a:ahLst/>
              <a:cxnLst/>
              <a:rect r="r" b="b" t="t" l="l"/>
              <a:pathLst>
                <a:path h="877733" w="817770">
                  <a:moveTo>
                    <a:pt x="0" y="0"/>
                  </a:moveTo>
                  <a:lnTo>
                    <a:pt x="817770" y="0"/>
                  </a:lnTo>
                  <a:lnTo>
                    <a:pt x="817770" y="877733"/>
                  </a:lnTo>
                  <a:lnTo>
                    <a:pt x="0" y="877733"/>
                  </a:lnTo>
                  <a:close/>
                </a:path>
              </a:pathLst>
            </a:custGeom>
            <a:blipFill>
              <a:blip r:embed="rId3"/>
              <a:stretch>
                <a:fillRect l="-30701" t="0" r="-3070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7192" y="4839232"/>
            <a:ext cx="5186058" cy="645538"/>
            <a:chOff x="0" y="0"/>
            <a:chExt cx="1365875" cy="1700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5875" cy="170018"/>
            </a:xfrm>
            <a:custGeom>
              <a:avLst/>
              <a:gdLst/>
              <a:ahLst/>
              <a:cxnLst/>
              <a:rect r="r" b="b" t="t" l="l"/>
              <a:pathLst>
                <a:path h="170018" w="1365875">
                  <a:moveTo>
                    <a:pt x="0" y="0"/>
                  </a:moveTo>
                  <a:lnTo>
                    <a:pt x="1365875" y="0"/>
                  </a:lnTo>
                  <a:lnTo>
                    <a:pt x="1365875" y="170018"/>
                  </a:lnTo>
                  <a:lnTo>
                    <a:pt x="0" y="170018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365875" cy="198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1892902" y="5033385"/>
            <a:ext cx="287684" cy="287684"/>
          </a:xfrm>
          <a:custGeom>
            <a:avLst/>
            <a:gdLst/>
            <a:ahLst/>
            <a:cxnLst/>
            <a:rect r="r" b="b" t="t" l="l"/>
            <a:pathLst>
              <a:path h="287684" w="287684">
                <a:moveTo>
                  <a:pt x="0" y="0"/>
                </a:moveTo>
                <a:lnTo>
                  <a:pt x="287683" y="0"/>
                </a:lnTo>
                <a:lnTo>
                  <a:pt x="287683" y="287684"/>
                </a:lnTo>
                <a:lnTo>
                  <a:pt x="0" y="2876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365023" y="7461358"/>
            <a:ext cx="121409" cy="12140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54644" y="7522062"/>
            <a:ext cx="121409" cy="12140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341864" y="7522062"/>
            <a:ext cx="121409" cy="121409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AutoShape 19" id="19"/>
          <p:cNvSpPr/>
          <p:nvPr/>
        </p:nvSpPr>
        <p:spPr>
          <a:xfrm>
            <a:off x="8425728" y="7149677"/>
            <a:ext cx="8833572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>
            <a:off x="10741815" y="5628281"/>
            <a:ext cx="0" cy="3630019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H="true">
            <a:off x="13970083" y="7149677"/>
            <a:ext cx="0" cy="2108623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1028700" y="1085734"/>
            <a:ext cx="10372116" cy="177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69"/>
              </a:lnSpc>
            </a:pPr>
            <a:r>
              <a:rPr lang="en-US" b="true" sz="13258" spc="-265">
                <a:solidFill>
                  <a:srgbClr val="FFFFFF"/>
                </a:solidFill>
                <a:latin typeface="Cy Grotesk V3 Grand Semi-Bold"/>
                <a:ea typeface="Cy Grotesk V3 Grand Semi-Bold"/>
                <a:cs typeface="Cy Grotesk V3 Grand Semi-Bold"/>
                <a:sym typeface="Cy Grotesk V3 Grand Semi-Bold"/>
              </a:rPr>
              <a:t>THE GAP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17192" y="4980059"/>
            <a:ext cx="457570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4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WE REACT.  WE DON’T PREDICT.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25728" y="7842126"/>
            <a:ext cx="2056506" cy="87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9"/>
              </a:lnSpc>
            </a:pPr>
            <a:r>
              <a:rPr lang="en-US" sz="1599" spc="-3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AGENCIES AND COMMUNITIES GET HOURS OF WARN</a:t>
            </a:r>
            <a:r>
              <a:rPr lang="en-US" sz="1599" spc="-3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ING, NOT DAYS.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76053" y="7842126"/>
            <a:ext cx="2454395" cy="109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9"/>
              </a:lnSpc>
            </a:pPr>
            <a:r>
              <a:rPr lang="en-US" sz="1599" spc="-3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EXISTING FIRE DANG</a:t>
            </a:r>
            <a:r>
              <a:rPr lang="en-US" sz="1599" spc="-3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ER RATINGS ARE WEATHER-BASED AND COARSE, NOT SPECIFIC TO PEAT CONDITIONS.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508246" y="7842126"/>
            <a:ext cx="2796028" cy="131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59"/>
              </a:lnSpc>
            </a:pPr>
            <a:r>
              <a:rPr lang="en-US" sz="1599" spc="-3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TODAY’S TOOLS ARE REACTIVE: SATELLIT</a:t>
            </a:r>
            <a:r>
              <a:rPr lang="en-US" sz="1599" spc="-31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 HOTSPOTS AND API READINGS REPORT FIRES AND HAZE AFTER THEY BEGIN.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130087"/>
            <a:ext cx="9238989" cy="6340755"/>
            <a:chOff x="0" y="0"/>
            <a:chExt cx="1431361" cy="9823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31361" cy="982349"/>
            </a:xfrm>
            <a:custGeom>
              <a:avLst/>
              <a:gdLst/>
              <a:ahLst/>
              <a:cxnLst/>
              <a:rect r="r" b="b" t="t" l="l"/>
              <a:pathLst>
                <a:path h="982349" w="1431361">
                  <a:moveTo>
                    <a:pt x="0" y="0"/>
                  </a:moveTo>
                  <a:lnTo>
                    <a:pt x="1431361" y="0"/>
                  </a:lnTo>
                  <a:lnTo>
                    <a:pt x="1431361" y="982349"/>
                  </a:lnTo>
                  <a:lnTo>
                    <a:pt x="0" y="982349"/>
                  </a:lnTo>
                  <a:close/>
                </a:path>
              </a:pathLst>
            </a:custGeom>
            <a:blipFill>
              <a:blip r:embed="rId2"/>
              <a:stretch>
                <a:fillRect l="-1674" t="0" r="-1674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724213" y="8612762"/>
            <a:ext cx="7618048" cy="645538"/>
            <a:chOff x="0" y="0"/>
            <a:chExt cx="2006399" cy="1700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06399" cy="170018"/>
            </a:xfrm>
            <a:custGeom>
              <a:avLst/>
              <a:gdLst/>
              <a:ahLst/>
              <a:cxnLst/>
              <a:rect r="r" b="b" t="t" l="l"/>
              <a:pathLst>
                <a:path h="170018" w="2006399">
                  <a:moveTo>
                    <a:pt x="0" y="0"/>
                  </a:moveTo>
                  <a:lnTo>
                    <a:pt x="2006399" y="0"/>
                  </a:lnTo>
                  <a:lnTo>
                    <a:pt x="2006399" y="170018"/>
                  </a:lnTo>
                  <a:lnTo>
                    <a:pt x="0" y="170018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006399" cy="1985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74262" y="8791689"/>
            <a:ext cx="287684" cy="287684"/>
          </a:xfrm>
          <a:custGeom>
            <a:avLst/>
            <a:gdLst/>
            <a:ahLst/>
            <a:cxnLst/>
            <a:rect r="r" b="b" t="t" l="l"/>
            <a:pathLst>
              <a:path h="287684" w="287684">
                <a:moveTo>
                  <a:pt x="0" y="0"/>
                </a:moveTo>
                <a:lnTo>
                  <a:pt x="287684" y="0"/>
                </a:lnTo>
                <a:lnTo>
                  <a:pt x="287684" y="287684"/>
                </a:lnTo>
                <a:lnTo>
                  <a:pt x="0" y="2876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1028700" y="4134849"/>
            <a:ext cx="162306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11428784" y="5607623"/>
            <a:ext cx="5830516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1433547" y="7105141"/>
            <a:ext cx="5830516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2605122" y="4161601"/>
            <a:ext cx="0" cy="5150203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958630" y="4804666"/>
            <a:ext cx="121409" cy="121409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958630" y="6312219"/>
            <a:ext cx="121409" cy="12140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1433547" y="4161601"/>
            <a:ext cx="0" cy="5150203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1958630" y="7776653"/>
            <a:ext cx="121409" cy="121409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028700" y="1070416"/>
            <a:ext cx="11730270" cy="2875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5"/>
              </a:lnSpc>
            </a:pPr>
            <a:r>
              <a:rPr lang="en-US" b="true" sz="11923" spc="-238">
                <a:solidFill>
                  <a:srgbClr val="FFFFFF"/>
                </a:solidFill>
                <a:latin typeface="Cy Grotesk V3 Grand Semi-Bold"/>
                <a:ea typeface="Cy Grotesk V3 Grand Semi-Bold"/>
                <a:cs typeface="Cy Grotesk V3 Grand Semi-Bold"/>
                <a:sym typeface="Cy Grotesk V3 Grand Semi-Bold"/>
              </a:rPr>
              <a:t>THE SOLUTION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60743" y="8753589"/>
            <a:ext cx="521351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-4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PREDICT THE FIRE</a:t>
            </a:r>
            <a:r>
              <a:rPr lang="en-US" sz="2100" spc="-42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BEFORE IT STARTS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959443" y="4675125"/>
            <a:ext cx="4182346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</a:t>
            </a: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IRE RISK FOR THE NEXT 7 DAYS, FOR 71 PEATLAND AREAS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59443" y="6058155"/>
            <a:ext cx="4125541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FLAGS WHEN TODAY’S</a:t>
            </a: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WIND WOULD CARRY SMOKE TOWARDS MALAYSIA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959443" y="7471853"/>
            <a:ext cx="4125541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79"/>
              </a:lnSpc>
            </a:pP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EARLY ALER</a:t>
            </a: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TS SO RESPONDERS CAN RE-WET PEAT, PATROL, AND WARN THE PUBLIC BEFORE IGNITION.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247775"/>
            <a:ext cx="15720860" cy="159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5"/>
              </a:lnSpc>
            </a:pPr>
            <a:r>
              <a:rPr lang="en-US" b="true" sz="11923" spc="-238">
                <a:solidFill>
                  <a:srgbClr val="FFFFFF"/>
                </a:solidFill>
                <a:latin typeface="Cy Grotesk V3 Grand Semi-Bold"/>
                <a:ea typeface="Cy Grotesk V3 Grand Semi-Bold"/>
                <a:cs typeface="Cy Grotesk V3 Grand Semi-Bold"/>
                <a:sym typeface="Cy Grotesk V3 Grand Semi-Bold"/>
              </a:rPr>
              <a:t>HOW </a:t>
            </a:r>
            <a:r>
              <a:rPr lang="en-US" b="true" sz="11923" spc="-238">
                <a:solidFill>
                  <a:srgbClr val="FFFFFF"/>
                </a:solidFill>
                <a:latin typeface="Cy Grotesk V3 Grand Semi-Bold"/>
                <a:ea typeface="Cy Grotesk V3 Grand Semi-Bold"/>
                <a:cs typeface="Cy Grotesk V3 Grand Semi-Bold"/>
                <a:sym typeface="Cy Grotesk V3 Grand Semi-Bold"/>
              </a:rPr>
              <a:t>IT WORKS</a:t>
            </a:r>
          </a:p>
        </p:txBody>
      </p:sp>
      <p:sp>
        <p:nvSpPr>
          <p:cNvPr name="AutoShape 3" id="3"/>
          <p:cNvSpPr/>
          <p:nvPr/>
        </p:nvSpPr>
        <p:spPr>
          <a:xfrm>
            <a:off x="1271938" y="8968816"/>
            <a:ext cx="162306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8603247" y="7414532"/>
            <a:ext cx="8887371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8615167" y="4849253"/>
            <a:ext cx="0" cy="411480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9200756" y="8070265"/>
            <a:ext cx="121409" cy="12140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AutoShape 9" id="9"/>
          <p:cNvSpPr/>
          <p:nvPr/>
        </p:nvSpPr>
        <p:spPr>
          <a:xfrm flipV="true">
            <a:off x="8603247" y="6006541"/>
            <a:ext cx="8887371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9200756" y="6722124"/>
            <a:ext cx="121409" cy="12140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00756" y="5386738"/>
            <a:ext cx="121409" cy="12140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8700" y="3403632"/>
            <a:ext cx="9214473" cy="645521"/>
            <a:chOff x="0" y="0"/>
            <a:chExt cx="12285965" cy="860695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2285965" cy="860695"/>
              <a:chOff x="0" y="0"/>
              <a:chExt cx="2426857" cy="170014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2426857" cy="170014"/>
              </a:xfrm>
              <a:custGeom>
                <a:avLst/>
                <a:gdLst/>
                <a:ahLst/>
                <a:cxnLst/>
                <a:rect r="r" b="b" t="t" l="l"/>
                <a:pathLst>
                  <a:path h="170014" w="2426857">
                    <a:moveTo>
                      <a:pt x="0" y="0"/>
                    </a:moveTo>
                    <a:lnTo>
                      <a:pt x="2426857" y="0"/>
                    </a:lnTo>
                    <a:lnTo>
                      <a:pt x="2426857" y="170014"/>
                    </a:lnTo>
                    <a:lnTo>
                      <a:pt x="0" y="170014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sq">
                <a:solidFill>
                  <a:srgbClr val="737373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28575"/>
                <a:ext cx="2426857" cy="19858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59"/>
                  </a:lnSpc>
                </a:pPr>
              </a:p>
            </p:txBody>
          </p:sp>
        </p:grpSp>
        <p:sp>
          <p:nvSpPr>
            <p:cNvPr name="Freeform 20" id="20"/>
            <p:cNvSpPr/>
            <p:nvPr/>
          </p:nvSpPr>
          <p:spPr>
            <a:xfrm flipH="false" flipV="false" rot="0">
              <a:off x="429227" y="218257"/>
              <a:ext cx="383578" cy="383578"/>
            </a:xfrm>
            <a:custGeom>
              <a:avLst/>
              <a:gdLst/>
              <a:ahLst/>
              <a:cxnLst/>
              <a:rect r="r" b="b" t="t" l="l"/>
              <a:pathLst>
                <a:path h="383578" w="383578">
                  <a:moveTo>
                    <a:pt x="0" y="0"/>
                  </a:moveTo>
                  <a:lnTo>
                    <a:pt x="383578" y="0"/>
                  </a:lnTo>
                  <a:lnTo>
                    <a:pt x="383578" y="383579"/>
                  </a:lnTo>
                  <a:lnTo>
                    <a:pt x="0" y="3835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248639" y="180157"/>
              <a:ext cx="821842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0"/>
                </a:lnSpc>
              </a:pPr>
              <a:r>
                <a:rPr lang="en-US" sz="2100" spc="-4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FROM RAW DATA TO EARLY WARNING</a:t>
              </a:r>
              <a:r>
                <a:rPr lang="en-US" sz="2100" spc="-42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.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028700" y="4849253"/>
            <a:ext cx="7469807" cy="3608851"/>
          </a:xfrm>
          <a:custGeom>
            <a:avLst/>
            <a:gdLst/>
            <a:ahLst/>
            <a:cxnLst/>
            <a:rect r="r" b="b" t="t" l="l"/>
            <a:pathLst>
              <a:path h="3608851" w="7469807">
                <a:moveTo>
                  <a:pt x="0" y="0"/>
                </a:moveTo>
                <a:lnTo>
                  <a:pt x="7469807" y="0"/>
                </a:lnTo>
                <a:lnTo>
                  <a:pt x="7469807" y="3608851"/>
                </a:lnTo>
                <a:lnTo>
                  <a:pt x="0" y="3608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082543" y="6310486"/>
            <a:ext cx="6912222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MODEL: </a:t>
            </a: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MACHINE LEARNING CLASSIFIER (E.G. RAINFALL WINDOWS, DRY DAYS, ESTIMATED PEAT WATER TABLE, WEATHER VS NORMAL, EL NIÑO / IOD, FIRE HISTORY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82543" y="5180742"/>
            <a:ext cx="691222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INPUTS</a:t>
            </a: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RAINFALL, TEMPERATURE, HUMIDITY, WIND, DAYS SINCE RAIN, PEAT SOIL MAPS, LAND USE, AND HISTORICAL HOTSPOTS.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082543" y="7851190"/>
            <a:ext cx="6912222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OUTPUT</a:t>
            </a: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A RISK MAP, A HAZE DIRECTION FORECAST, AND ALERTS SENT TO RESPONDERS.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71880" y="894408"/>
            <a:ext cx="162306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313367" y="3335672"/>
            <a:ext cx="10586115" cy="7039767"/>
          </a:xfrm>
          <a:custGeom>
            <a:avLst/>
            <a:gdLst/>
            <a:ahLst/>
            <a:cxnLst/>
            <a:rect r="r" b="b" t="t" l="l"/>
            <a:pathLst>
              <a:path h="7039767" w="10586115">
                <a:moveTo>
                  <a:pt x="0" y="0"/>
                </a:moveTo>
                <a:lnTo>
                  <a:pt x="10586115" y="0"/>
                </a:lnTo>
                <a:lnTo>
                  <a:pt x="10586115" y="7039767"/>
                </a:lnTo>
                <a:lnTo>
                  <a:pt x="0" y="7039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485285" y="3335672"/>
            <a:ext cx="10586115" cy="7039767"/>
          </a:xfrm>
          <a:custGeom>
            <a:avLst/>
            <a:gdLst/>
            <a:ahLst/>
            <a:cxnLst/>
            <a:rect r="r" b="b" t="t" l="l"/>
            <a:pathLst>
              <a:path h="7039767" w="10586115">
                <a:moveTo>
                  <a:pt x="10586115" y="0"/>
                </a:moveTo>
                <a:lnTo>
                  <a:pt x="0" y="0"/>
                </a:lnTo>
                <a:lnTo>
                  <a:pt x="0" y="7039767"/>
                </a:lnTo>
                <a:lnTo>
                  <a:pt x="10586115" y="7039767"/>
                </a:lnTo>
                <a:lnTo>
                  <a:pt x="1058611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6930098"/>
            <a:ext cx="121409" cy="12140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7881974"/>
            <a:ext cx="121409" cy="12140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846555" y="1509217"/>
            <a:ext cx="10594889" cy="2614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b="true" sz="10807" spc="-216">
                <a:solidFill>
                  <a:srgbClr val="FFFFFF"/>
                </a:solidFill>
                <a:latin typeface="Cy Grotesk V3 Grand Semi-Bold"/>
                <a:ea typeface="Cy Grotesk V3 Grand Semi-Bold"/>
                <a:cs typeface="Cy Grotesk V3 Grand Semi-Bold"/>
                <a:sym typeface="Cy Grotesk V3 Grand Semi-Bold"/>
              </a:rPr>
              <a:t>DATA SOURCES</a:t>
            </a:r>
          </a:p>
        </p:txBody>
      </p:sp>
      <p:sp>
        <p:nvSpPr>
          <p:cNvPr name="AutoShape 12" id="12"/>
          <p:cNvSpPr/>
          <p:nvPr/>
        </p:nvSpPr>
        <p:spPr>
          <a:xfrm>
            <a:off x="971880" y="7202602"/>
            <a:ext cx="162306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>
            <a:off x="1032584" y="6321835"/>
            <a:ext cx="162306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028700" y="8312945"/>
            <a:ext cx="162306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4975604" y="6678638"/>
            <a:ext cx="83184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spc="-3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OP</a:t>
            </a:r>
            <a:r>
              <a:rPr lang="en-US" sz="1800" spc="-3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EN-METEO FORECAST + AIR QUALITY (CAMS)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984800" y="7630514"/>
            <a:ext cx="83184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spc="-3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NOAA</a:t>
            </a:r>
            <a:r>
              <a:rPr lang="en-US" sz="1800" spc="-3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EL NIÑO / IOD</a:t>
            </a:r>
          </a:p>
        </p:txBody>
      </p:sp>
      <p:sp>
        <p:nvSpPr>
          <p:cNvPr name="AutoShape 17" id="17"/>
          <p:cNvSpPr/>
          <p:nvPr/>
        </p:nvSpPr>
        <p:spPr>
          <a:xfrm>
            <a:off x="1019505" y="5491555"/>
            <a:ext cx="162306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1019505" y="4663495"/>
            <a:ext cx="162306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4975604" y="4961328"/>
            <a:ext cx="83184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spc="-3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NASA FIRMS VIIRS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75604" y="5789388"/>
            <a:ext cx="8318400" cy="251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800" spc="-3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NASA</a:t>
            </a:r>
            <a:r>
              <a:rPr lang="en-US" sz="1800" spc="-36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POWER WEATHER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71880" y="894408"/>
            <a:ext cx="1623060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true" flipV="false" rot="0">
            <a:off x="-2925802" y="3247233"/>
            <a:ext cx="10586115" cy="7039767"/>
          </a:xfrm>
          <a:custGeom>
            <a:avLst/>
            <a:gdLst/>
            <a:ahLst/>
            <a:cxnLst/>
            <a:rect r="r" b="b" t="t" l="l"/>
            <a:pathLst>
              <a:path h="7039767" w="10586115">
                <a:moveTo>
                  <a:pt x="10586115" y="0"/>
                </a:moveTo>
                <a:lnTo>
                  <a:pt x="0" y="0"/>
                </a:lnTo>
                <a:lnTo>
                  <a:pt x="0" y="7039767"/>
                </a:lnTo>
                <a:lnTo>
                  <a:pt x="10586115" y="7039767"/>
                </a:lnTo>
                <a:lnTo>
                  <a:pt x="1058611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00091" y="2537279"/>
            <a:ext cx="9435960" cy="5054588"/>
          </a:xfrm>
          <a:custGeom>
            <a:avLst/>
            <a:gdLst/>
            <a:ahLst/>
            <a:cxnLst/>
            <a:rect r="r" b="b" t="t" l="l"/>
            <a:pathLst>
              <a:path h="5054588" w="9435960">
                <a:moveTo>
                  <a:pt x="0" y="0"/>
                </a:moveTo>
                <a:lnTo>
                  <a:pt x="9435960" y="0"/>
                </a:lnTo>
                <a:lnTo>
                  <a:pt x="9435960" y="5054588"/>
                </a:lnTo>
                <a:lnTo>
                  <a:pt x="0" y="50545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504" r="0" b="-2504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510123" y="1084908"/>
            <a:ext cx="11412687" cy="1452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6"/>
              </a:lnSpc>
            </a:pPr>
            <a:r>
              <a:rPr lang="en-US" b="true" sz="10807" spc="-216">
                <a:solidFill>
                  <a:srgbClr val="FFFFFF"/>
                </a:solidFill>
                <a:latin typeface="Cy Grotesk V3 Grand Semi-Bold"/>
                <a:ea typeface="Cy Grotesk V3 Grand Semi-Bold"/>
                <a:cs typeface="Cy Grotesk V3 Grand Semi-Bold"/>
                <a:sym typeface="Cy Grotesk V3 Grand Semi-Bold"/>
              </a:rPr>
              <a:t>PROTOTYPE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073554" y="7800128"/>
            <a:ext cx="8411596" cy="2237542"/>
            <a:chOff x="0" y="0"/>
            <a:chExt cx="11215461" cy="298338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78309" y="96861"/>
              <a:ext cx="161878" cy="161878"/>
              <a:chOff x="0" y="0"/>
              <a:chExt cx="812800" cy="8128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59"/>
                  </a:lnSpc>
                </a:pP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7151110" y="2821511"/>
              <a:ext cx="161878" cy="161878"/>
              <a:chOff x="0" y="0"/>
              <a:chExt cx="812800" cy="8128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28575"/>
                <a:ext cx="812800" cy="8413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610665" y="0"/>
              <a:ext cx="10604796" cy="355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59"/>
                </a:lnSpc>
              </a:pPr>
              <a:r>
                <a:rPr lang="en-US" sz="1799" spc="-35">
                  <a:solidFill>
                    <a:srgbClr val="FFFFFF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SEE FOR YOURSELF, CLICK THE LINK BELOW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8029" y="1656674"/>
            <a:ext cx="10254132" cy="159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5"/>
              </a:lnSpc>
            </a:pPr>
            <a:r>
              <a:rPr lang="en-US" b="true" sz="11923" spc="-238">
                <a:solidFill>
                  <a:srgbClr val="FFFFFF"/>
                </a:solidFill>
                <a:latin typeface="Cy Grotesk V3 Grand Semi-Bold"/>
                <a:ea typeface="Cy Grotesk V3 Grand Semi-Bold"/>
                <a:cs typeface="Cy Grotesk V3 Grand Semi-Bold"/>
                <a:sym typeface="Cy Grotesk V3 Grand Semi-Bold"/>
              </a:rPr>
              <a:t>IMPACT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9485285" y="3335672"/>
            <a:ext cx="10586115" cy="7039767"/>
          </a:xfrm>
          <a:custGeom>
            <a:avLst/>
            <a:gdLst/>
            <a:ahLst/>
            <a:cxnLst/>
            <a:rect r="r" b="b" t="t" l="l"/>
            <a:pathLst>
              <a:path h="7039767" w="10586115">
                <a:moveTo>
                  <a:pt x="10586115" y="0"/>
                </a:moveTo>
                <a:lnTo>
                  <a:pt x="0" y="0"/>
                </a:lnTo>
                <a:lnTo>
                  <a:pt x="0" y="7039767"/>
                </a:lnTo>
                <a:lnTo>
                  <a:pt x="10586115" y="7039767"/>
                </a:lnTo>
                <a:lnTo>
                  <a:pt x="1058611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243910" y="4587703"/>
            <a:ext cx="10528251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243910" y="6006215"/>
            <a:ext cx="10199092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71742" y="7340003"/>
            <a:ext cx="1091062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2919779" y="9136891"/>
            <a:ext cx="121409" cy="12140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642401" y="3649650"/>
            <a:ext cx="861766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PREVENTION COSTS F</a:t>
            </a: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 LESS THAN FIREFIGHTING AND HEALTH CARE AFTER THE FACT.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42401" y="5068002"/>
            <a:ext cx="795359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PROTECTS PE</a:t>
            </a: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ATLANDS, WHICH HOLD ROUGHLY TWICE THE CARBON OF ALL THE WORLD’S FORESTS ON ABOUT 3% OF ITS LAND.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42401" y="6487227"/>
            <a:ext cx="795359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USERS: FIRE AND RESCUE DEPARTMENTS, ENVIRONMENT </a:t>
            </a: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AGENCIES, PLANTATION OWNERS, AND LOCAL COMMUNITIES.</a:t>
            </a:r>
          </a:p>
        </p:txBody>
      </p:sp>
      <p:sp>
        <p:nvSpPr>
          <p:cNvPr name="AutoShape 13" id="13"/>
          <p:cNvSpPr/>
          <p:nvPr/>
        </p:nvSpPr>
        <p:spPr>
          <a:xfrm>
            <a:off x="2060077" y="3249758"/>
            <a:ext cx="0" cy="4721875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518029" y="3916350"/>
            <a:ext cx="121409" cy="121409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18029" y="5273998"/>
            <a:ext cx="121409" cy="12140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18029" y="6612404"/>
            <a:ext cx="121409" cy="121409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18029" y="1656674"/>
            <a:ext cx="12642962" cy="1593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35"/>
              </a:lnSpc>
            </a:pPr>
            <a:r>
              <a:rPr lang="en-US" b="true" sz="11923" spc="-238">
                <a:solidFill>
                  <a:srgbClr val="FFFFFF"/>
                </a:solidFill>
                <a:latin typeface="Cy Grotesk V3 Grand Semi-Bold"/>
                <a:ea typeface="Cy Grotesk V3 Grand Semi-Bold"/>
                <a:cs typeface="Cy Grotesk V3 Grand Semi-Bold"/>
                <a:sym typeface="Cy Grotesk V3 Grand Semi-Bold"/>
              </a:rPr>
              <a:t>NEXT STEPS</a:t>
            </a:r>
          </a:p>
        </p:txBody>
      </p:sp>
      <p:sp>
        <p:nvSpPr>
          <p:cNvPr name="AutoShape 3" id="3"/>
          <p:cNvSpPr/>
          <p:nvPr/>
        </p:nvSpPr>
        <p:spPr>
          <a:xfrm>
            <a:off x="1243910" y="4587703"/>
            <a:ext cx="10528251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1243910" y="6006215"/>
            <a:ext cx="10199092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71742" y="7340003"/>
            <a:ext cx="10910620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2919779" y="9136891"/>
            <a:ext cx="121409" cy="12140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642401" y="3649650"/>
            <a:ext cx="861766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ADD PEAT GROUNDWATE</a:t>
            </a: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 LEVEL AND SOIL MOISTURE SENSORS (IOT) FOR SHARPER PREDICTIONS.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42401" y="5068002"/>
            <a:ext cx="795359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PILOT I</a:t>
            </a: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 ONE HIGH-RISK DISTRICT, E.G. IN SELANGOR OR SARAWAK.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42401" y="6487227"/>
            <a:ext cx="7953597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9"/>
              </a:lnSpc>
            </a:pP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EXTEND TO </a:t>
            </a:r>
            <a:r>
              <a:rPr lang="en-US" sz="1799" spc="-35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PUBLIC MOBILE ALERT APP.</a:t>
            </a:r>
          </a:p>
        </p:txBody>
      </p:sp>
      <p:sp>
        <p:nvSpPr>
          <p:cNvPr name="AutoShape 12" id="12"/>
          <p:cNvSpPr/>
          <p:nvPr/>
        </p:nvSpPr>
        <p:spPr>
          <a:xfrm>
            <a:off x="2186354" y="3249758"/>
            <a:ext cx="0" cy="4614445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1443001" y="3916350"/>
            <a:ext cx="8989098" cy="6695022"/>
            <a:chOff x="0" y="0"/>
            <a:chExt cx="1392647" cy="10372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92646" cy="1037234"/>
            </a:xfrm>
            <a:custGeom>
              <a:avLst/>
              <a:gdLst/>
              <a:ahLst/>
              <a:cxnLst/>
              <a:rect r="r" b="b" t="t" l="l"/>
              <a:pathLst>
                <a:path h="1037234" w="1392646">
                  <a:moveTo>
                    <a:pt x="0" y="0"/>
                  </a:moveTo>
                  <a:lnTo>
                    <a:pt x="1392646" y="0"/>
                  </a:lnTo>
                  <a:lnTo>
                    <a:pt x="1392646" y="1037234"/>
                  </a:lnTo>
                  <a:lnTo>
                    <a:pt x="0" y="1037234"/>
                  </a:lnTo>
                  <a:close/>
                </a:path>
              </a:pathLst>
            </a:custGeom>
            <a:blipFill>
              <a:blip r:embed="rId2"/>
              <a:stretch>
                <a:fillRect l="-5581" t="0" r="-5581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18029" y="5273998"/>
            <a:ext cx="121409" cy="121409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40633" y="3916350"/>
            <a:ext cx="121409" cy="121409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540633" y="6696777"/>
            <a:ext cx="121409" cy="121409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12800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9"/>
                </a:lnSpc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13367" y="3335672"/>
            <a:ext cx="10586115" cy="7039767"/>
          </a:xfrm>
          <a:custGeom>
            <a:avLst/>
            <a:gdLst/>
            <a:ahLst/>
            <a:cxnLst/>
            <a:rect r="r" b="b" t="t" l="l"/>
            <a:pathLst>
              <a:path h="7039767" w="10586115">
                <a:moveTo>
                  <a:pt x="0" y="0"/>
                </a:moveTo>
                <a:lnTo>
                  <a:pt x="10586115" y="0"/>
                </a:lnTo>
                <a:lnTo>
                  <a:pt x="10586115" y="7039767"/>
                </a:lnTo>
                <a:lnTo>
                  <a:pt x="0" y="7039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485285" y="3335672"/>
            <a:ext cx="10586115" cy="7039767"/>
          </a:xfrm>
          <a:custGeom>
            <a:avLst/>
            <a:gdLst/>
            <a:ahLst/>
            <a:cxnLst/>
            <a:rect r="r" b="b" t="t" l="l"/>
            <a:pathLst>
              <a:path h="7039767" w="10586115">
                <a:moveTo>
                  <a:pt x="10586115" y="0"/>
                </a:moveTo>
                <a:lnTo>
                  <a:pt x="0" y="0"/>
                </a:lnTo>
                <a:lnTo>
                  <a:pt x="0" y="7039767"/>
                </a:lnTo>
                <a:lnTo>
                  <a:pt x="10586115" y="7039767"/>
                </a:lnTo>
                <a:lnTo>
                  <a:pt x="1058611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79239" y="3391515"/>
            <a:ext cx="15529522" cy="2931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46"/>
              </a:lnSpc>
            </a:pPr>
            <a:r>
              <a:rPr lang="en-US" b="true" sz="12172" spc="-243">
                <a:solidFill>
                  <a:srgbClr val="FFFFFF"/>
                </a:solidFill>
                <a:latin typeface="Cy Grotesk V3 Grand Semi-Bold"/>
                <a:ea typeface="Cy Grotesk V3 Grand Semi-Bold"/>
                <a:cs typeface="Cy Grotesk V3 Grand Semi-Bold"/>
                <a:sym typeface="Cy Grotesk V3 Grand Semi-Bold"/>
              </a:rPr>
              <a:t>END OF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DAHXlKUqRBA</dc:identifier>
  <dcterms:modified xsi:type="dcterms:W3CDTF">2011-08-01T06:04:30Z</dcterms:modified>
  <cp:revision>1</cp:revision>
  <dc:title> Peat Guard Presentation</dc:title>
</cp:coreProperties>
</file>